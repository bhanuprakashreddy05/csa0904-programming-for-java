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3" r:id="rId9"/>
    <p:sldId id="264" r:id="rId10"/>
    <p:sldId id="274" r:id="rId11"/>
    <p:sldId id="265" r:id="rId12"/>
    <p:sldId id="275" r:id="rId13"/>
    <p:sldId id="266" r:id="rId14"/>
    <p:sldId id="276" r:id="rId15"/>
    <p:sldId id="267" r:id="rId16"/>
    <p:sldId id="277" r:id="rId17"/>
    <p:sldId id="268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020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051560"/>
            <a:ext cx="9628632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Irrigation Decision Support System Using Simulated Soil Moisture and Weather Data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051560" y="297180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Java-Based Rule-Driven Irrigation Simulation Project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000000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CSA 0904 – Java Programming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548640" y="4526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
O. Bhanu prakash Reddy 192372075</a:t>
            </a:r>
          </a:p>
          <a:p>
            <a:pPr marL="0" indent="0" algn="l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M.Mahi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reddy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192324082</a:t>
            </a:r>
          </a:p>
          <a:p>
            <a:pPr marL="0" indent="0" algn="l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K.Haneesh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192324084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Sri Hari 192372222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Antony Ajay 192524414</a:t>
            </a:r>
          </a:p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589520" y="45262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
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Dr. Thalapathy Rajasekaran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987552" y="2143103"/>
            <a:ext cx="1112550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Efficient irrigation is essential for sustainable agriculture, yet many decisions are still made manually without real-time environmental data.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Irrigation Decision Support System</a:t>
            </a: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Java-based application that simulates soil moisture and weather conditions for demonstration purposes.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analyzes simulated environmental data using predefined decision rules to recommend irrigation actions.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real IoT sensors are used; simulated data is generated to demonstrate the complete decision-making workflow.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provides recommendations, alerts, and historical reports to support informed irrigation decisions.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1922624" y="1979408"/>
            <a:ext cx="1112550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 a Java-based decision support system for irrigation management.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simulate soil moisture, temperature, humidity, and rainfall data for demonstration purposes.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implement rule-based logic that determines irrigation requirement and water quantity.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generate real-time recommendations and alerts based on simulated conditions.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maintain irrigation history and generate summary reports for water usage analysis.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demonstrate core Java OOP concepts through a practical agricultural use case.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846859" y="2002715"/>
            <a:ext cx="1112550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 small farmer named Ramesh, who owns a few acres of farmland.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morning, he walks through his fields, touches the soil with his hands, looks at the sky, and decides whether his crops need water.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days he irrigates more than necessary, wasting valuable water. 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other days, he delays irrigation, causing the crops to experience water stress and reducing their yield.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hears about modern IoT-based smart irrigation systems, but the cost of sensors, controllers, and maintenance is far beyond what he can afford. 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many small farmers, he continues to rely on experience and guesswork instead of data-driven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37944" y="63550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5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AND Proposed System</a:t>
            </a:r>
            <a:endParaRPr lang="en-US" sz="3500" dirty="0"/>
          </a:p>
          <a:p>
            <a:pPr marL="0" indent="0" algn="ctr">
              <a:buNone/>
            </a:pPr>
            <a:endParaRPr lang="en-US" sz="3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BE4657-9599-44E2-8B31-460B72D1F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691" y="1504188"/>
            <a:ext cx="8132618" cy="5032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BCBE2C-C8F7-490E-9C1B-6E8E8CBE3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5657" y="1261872"/>
            <a:ext cx="8295935" cy="5087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User &amp; Farm Management</a:t>
            </a:r>
            <a:endParaRPr lang="en-US" sz="30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8AABEDC-72C5-4531-880A-156055127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552" y="1705645"/>
            <a:ext cx="5057795" cy="281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farmer profile and farm details.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multiple fields/zones with crop information.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soil moisture threshold values.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farm and crop configuration securely.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irrigation settings.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53D61EE-6388-462C-AD03-1C369B0DD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6971" y="1553377"/>
            <a:ext cx="4275529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farmers/users to create accounts.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login and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684469D-3942-40E1-9875-704EA82C3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552" y="4133228"/>
            <a:ext cx="7545655" cy="1566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Records crop name, crop growth stage, and approximate water requirement.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the decision engine provide crop-specific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0A449FF-7F18-4297-9B00-D4DB80F69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552" y="4958855"/>
            <a:ext cx="7263527" cy="1150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define minimum and maximum soil moisture thresholds.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If moisture falls below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irrigation may be recommended. 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1CF62C6-12A8-4AE2-8ECF-0AD009FB3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6971" y="2545016"/>
            <a:ext cx="4665076" cy="1150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farmer name, contact details, location, and preferences.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>
            <a:extLst>
              <a:ext uri="{FF2B5EF4-FFF2-40B4-BE49-F238E27FC236}">
                <a16:creationId xmlns:a16="http://schemas.microsoft.com/office/drawing/2014/main" id="{5BB552EE-83E0-433A-865C-EC8AEEB46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>
            <a:extLst>
              <a:ext uri="{FF2B5EF4-FFF2-40B4-BE49-F238E27FC236}">
                <a16:creationId xmlns:a16="http://schemas.microsoft.com/office/drawing/2014/main" id="{3A4CA14E-88EC-4E1A-8460-ECE5F9BEB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3DE1A8-4164-440E-B64D-4201FD458667}"/>
              </a:ext>
            </a:extLst>
          </p:cNvPr>
          <p:cNvSpPr txBox="1"/>
          <p:nvPr/>
        </p:nvSpPr>
        <p:spPr>
          <a:xfrm>
            <a:off x="4697506" y="907482"/>
            <a:ext cx="3299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OUTPUT</a:t>
            </a: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9ABD11-52EB-488F-8A47-B65651360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92" y="2514507"/>
            <a:ext cx="5771785" cy="2729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99D97A-E2D8-4BE9-AD19-0CA9756E3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087" y="2514508"/>
            <a:ext cx="5844230" cy="272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6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Soil Moisture &amp; Weather Data Simulation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62C18-4E0B-4ED3-AC95-BA21555AF932}"/>
              </a:ext>
            </a:extLst>
          </p:cNvPr>
          <p:cNvSpPr txBox="1"/>
          <p:nvPr/>
        </p:nvSpPr>
        <p:spPr>
          <a:xfrm>
            <a:off x="1319247" y="1295253"/>
            <a:ext cx="609600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Soil Moisture Data: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percentage.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temperature.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Moisture level for individual farm zones.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Dry, normal, and wet soil conditions.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variation in moisture values.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Weather Data: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humidity.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speed.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radiation.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 information.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95B684-8C29-4B29-8C68-574418494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237719"/>
              </p:ext>
            </p:extLst>
          </p:nvPr>
        </p:nvGraphicFramePr>
        <p:xfrm>
          <a:off x="5791200" y="3615254"/>
          <a:ext cx="586057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44066">
                  <a:extLst>
                    <a:ext uri="{9D8B030D-6E8A-4147-A177-3AD203B41FA5}">
                      <a16:colId xmlns:a16="http://schemas.microsoft.com/office/drawing/2014/main" val="2736443889"/>
                    </a:ext>
                  </a:extLst>
                </a:gridCol>
                <a:gridCol w="1438835">
                  <a:extLst>
                    <a:ext uri="{9D8B030D-6E8A-4147-A177-3AD203B41FA5}">
                      <a16:colId xmlns:a16="http://schemas.microsoft.com/office/drawing/2014/main" val="3720946099"/>
                    </a:ext>
                  </a:extLst>
                </a:gridCol>
                <a:gridCol w="1438835">
                  <a:extLst>
                    <a:ext uri="{9D8B030D-6E8A-4147-A177-3AD203B41FA5}">
                      <a16:colId xmlns:a16="http://schemas.microsoft.com/office/drawing/2014/main" val="2892484613"/>
                    </a:ext>
                  </a:extLst>
                </a:gridCol>
                <a:gridCol w="1438835">
                  <a:extLst>
                    <a:ext uri="{9D8B030D-6E8A-4147-A177-3AD203B41FA5}">
                      <a16:colId xmlns:a16="http://schemas.microsoft.com/office/drawing/2014/main" val="3550534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Soil Moisture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616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Irrigate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968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075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irrigation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31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Low/Medium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 forecast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 irrigation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396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Extreme Heat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priority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943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>
            <a:extLst>
              <a:ext uri="{FF2B5EF4-FFF2-40B4-BE49-F238E27FC236}">
                <a16:creationId xmlns:a16="http://schemas.microsoft.com/office/drawing/2014/main" id="{2D6422B2-D9AF-4D36-AD31-BE4172B1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>
            <a:extLst>
              <a:ext uri="{FF2B5EF4-FFF2-40B4-BE49-F238E27FC236}">
                <a16:creationId xmlns:a16="http://schemas.microsoft.com/office/drawing/2014/main" id="{76444D64-399B-41E3-BCE7-3A4D681C1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B2298E-41F9-4F94-AF72-36B3DD934ACC}"/>
              </a:ext>
            </a:extLst>
          </p:cNvPr>
          <p:cNvSpPr txBox="1"/>
          <p:nvPr/>
        </p:nvSpPr>
        <p:spPr>
          <a:xfrm>
            <a:off x="4620768" y="8925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OUTPUT</a:t>
            </a:r>
            <a:endParaRPr lang="en-US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267AE-3621-41D8-A3CB-17A10057F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2585792"/>
            <a:ext cx="5594402" cy="26495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0D6529-8827-4627-94AF-FA31F02DB3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756" y="2585792"/>
            <a:ext cx="5571410" cy="264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4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Irrigation Decision Engine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F5065-9060-4001-8CE1-E7D54732FFFE}"/>
              </a:ext>
            </a:extLst>
          </p:cNvPr>
          <p:cNvSpPr txBox="1"/>
          <p:nvPr/>
        </p:nvSpPr>
        <p:spPr>
          <a:xfrm>
            <a:off x="1113058" y="1727659"/>
            <a:ext cx="60960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soil moisture.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temperature.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rainfall.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type.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growth stage.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threshold.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irrigation status.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2A6BB-2F05-4D44-B4C7-3112F84AEE70}"/>
              </a:ext>
            </a:extLst>
          </p:cNvPr>
          <p:cNvSpPr txBox="1"/>
          <p:nvPr/>
        </p:nvSpPr>
        <p:spPr>
          <a:xfrm>
            <a:off x="4620768" y="1083124"/>
            <a:ext cx="60960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Processing: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water requirement based on moisture deficit.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irrigation duration.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expected rainfall.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zones with critically low moisture.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unnecessary watering.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current values with historical patterns.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4C36D9-CD95-4294-867B-6EECB5AE3F90}"/>
              </a:ext>
            </a:extLst>
          </p:cNvPr>
          <p:cNvSpPr txBox="1"/>
          <p:nvPr/>
        </p:nvSpPr>
        <p:spPr>
          <a:xfrm>
            <a:off x="5210556" y="470564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Soil Moisture &lt; Minimum Threshold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Rainfall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Rain Forecast = 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Irrigation = REQUIRED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Irrigation = NOT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>
            <a:extLst>
              <a:ext uri="{FF2B5EF4-FFF2-40B4-BE49-F238E27FC236}">
                <a16:creationId xmlns:a16="http://schemas.microsoft.com/office/drawing/2014/main" id="{1F5738E1-31D9-47D9-92CD-F2AD2C9F3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>
            <a:extLst>
              <a:ext uri="{FF2B5EF4-FFF2-40B4-BE49-F238E27FC236}">
                <a16:creationId xmlns:a16="http://schemas.microsoft.com/office/drawing/2014/main" id="{BB571886-2163-4086-8C22-CD1372167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DDD038-9DA1-434A-8BF2-2C6DACAE6B05}"/>
              </a:ext>
            </a:extLst>
          </p:cNvPr>
          <p:cNvSpPr txBox="1"/>
          <p:nvPr/>
        </p:nvSpPr>
        <p:spPr>
          <a:xfrm>
            <a:off x="4688541" y="8925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OUTPUT</a:t>
            </a:r>
            <a:endParaRPr lang="en-US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7B4AA8-728B-42D4-8A72-1497705BA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86" y="2512149"/>
            <a:ext cx="5898614" cy="2812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FFA0DF-A04E-4262-942D-CE392C94B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669" y="2512149"/>
            <a:ext cx="5898613" cy="281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22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Recommendation &amp; Alerts</a:t>
            </a:r>
            <a:endParaRPr lang="en-US" sz="30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48D9AB-E506-4148-ACCD-9802B1774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978408"/>
            <a:ext cx="617668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Irrigation Recommendations: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whether irrigation is required.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zone-wise recommendations.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Suggests irrigation duration.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preferred irrigation time.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Indicates urgency of irrigation.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soil moisture alert.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low/critical moisture alert.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rainfall warning.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Irrigation delay notification.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Abnormal sensor-data alert.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Extreme temperature warning.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System/data communication failure alert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0F644-6F82-4BB7-8BFC-E3FD1296D0BA}"/>
              </a:ext>
            </a:extLst>
          </p:cNvPr>
          <p:cNvSpPr txBox="1"/>
          <p:nvPr/>
        </p:nvSpPr>
        <p:spPr>
          <a:xfrm>
            <a:off x="6180627" y="3210087"/>
            <a:ext cx="60960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Zone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Soil moisture = 24%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Critical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Irrigate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Suggested Duration: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 minutes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 soil moisture and no significant rainfall expected.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>
            <a:extLst>
              <a:ext uri="{FF2B5EF4-FFF2-40B4-BE49-F238E27FC236}">
                <a16:creationId xmlns:a16="http://schemas.microsoft.com/office/drawing/2014/main" id="{2411702E-C13B-47D4-9DFC-EAA241576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>
            <a:extLst>
              <a:ext uri="{FF2B5EF4-FFF2-40B4-BE49-F238E27FC236}">
                <a16:creationId xmlns:a16="http://schemas.microsoft.com/office/drawing/2014/main" id="{BE2BE1B7-48FC-4E5F-8ACF-03F106FDD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126412-DEAC-499F-A0CB-3028CAC4DCBE}"/>
              </a:ext>
            </a:extLst>
          </p:cNvPr>
          <p:cNvSpPr txBox="1"/>
          <p:nvPr/>
        </p:nvSpPr>
        <p:spPr>
          <a:xfrm>
            <a:off x="4620768" y="8925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OUTPUT</a:t>
            </a:r>
            <a:endParaRPr lang="en-US" sz="1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BE7FFF-25EB-4C9B-8D57-CC4D1B7D7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92" y="2527050"/>
            <a:ext cx="6077966" cy="2870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9A4914-D009-4479-A3C3-93C48BF51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143" y="2527050"/>
            <a:ext cx="5683635" cy="267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406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5: Report Generation &amp; History</a:t>
            </a:r>
            <a:endParaRPr 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7D895-7263-493D-B248-C0FC6E7EF76E}"/>
              </a:ext>
            </a:extLst>
          </p:cNvPr>
          <p:cNvSpPr txBox="1"/>
          <p:nvPr/>
        </p:nvSpPr>
        <p:spPr>
          <a:xfrm>
            <a:off x="7871012" y="1973684"/>
            <a:ext cx="6096000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irrigation report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irrigation report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irrigation report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trend report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trend report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Zone-wise irrigation report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requirement report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efficiency report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D0536C7-78A0-4493-B03A-85CB23586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151" y="2251478"/>
            <a:ext cx="6041077" cy="2812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soil moisture, weather, and irrigation records.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historical irrigation decisions.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daily, weekly, and monthly reports.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moisture and weather trends using graphs.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irrigation requirements across farm zones.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analysis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usage and irrigation efficiency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>
            <a:extLst>
              <a:ext uri="{FF2B5EF4-FFF2-40B4-BE49-F238E27FC236}">
                <a16:creationId xmlns:a16="http://schemas.microsoft.com/office/drawing/2014/main" id="{63A4D060-86F0-434C-8071-088C1C3F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>
            <a:extLst>
              <a:ext uri="{FF2B5EF4-FFF2-40B4-BE49-F238E27FC236}">
                <a16:creationId xmlns:a16="http://schemas.microsoft.com/office/drawing/2014/main" id="{ED1A06AA-A28B-4170-8050-85CDE221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65B0CF-CC47-4E79-A4F8-188F90B08ADD}"/>
              </a:ext>
            </a:extLst>
          </p:cNvPr>
          <p:cNvSpPr txBox="1"/>
          <p:nvPr/>
        </p:nvSpPr>
        <p:spPr>
          <a:xfrm>
            <a:off x="4724400" y="8826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5: OUTPUT</a:t>
            </a:r>
            <a:endParaRPr lang="en-US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ACD2E-0BEA-4463-91CB-336386C06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414" y="1979256"/>
            <a:ext cx="8815354" cy="41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27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Flow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673456" y="160020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73456" y="160020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Registration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096616" y="1924812"/>
            <a:ext cx="384048" cy="310896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8" name="Shape 4"/>
          <p:cNvSpPr/>
          <p:nvPr/>
        </p:nvSpPr>
        <p:spPr>
          <a:xfrm>
            <a:off x="3480664" y="160020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80664" y="160020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Farm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03824" y="1924812"/>
            <a:ext cx="384048" cy="310896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1" name="Shape 7"/>
          <p:cNvSpPr/>
          <p:nvPr/>
        </p:nvSpPr>
        <p:spPr>
          <a:xfrm>
            <a:off x="6287872" y="160020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87872" y="160020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Generate Simulated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&amp; Weather Data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711032" y="1924812"/>
            <a:ext cx="384048" cy="310896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4" name="Shape 10"/>
          <p:cNvSpPr/>
          <p:nvPr/>
        </p:nvSpPr>
        <p:spPr>
          <a:xfrm>
            <a:off x="9095080" y="160020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095080" y="160020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Analyze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151212" y="2697480"/>
            <a:ext cx="310896" cy="1600200"/>
          </a:xfrm>
          <a:prstGeom prst="downArrow">
            <a:avLst/>
          </a:prstGeom>
          <a:solidFill>
            <a:srgbClr val="595959"/>
          </a:solidFill>
          <a:ln/>
        </p:spPr>
      </p:sp>
      <p:sp>
        <p:nvSpPr>
          <p:cNvPr id="17" name="Shape 13"/>
          <p:cNvSpPr/>
          <p:nvPr/>
        </p:nvSpPr>
        <p:spPr>
          <a:xfrm>
            <a:off x="673456" y="443484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3456" y="443484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Generate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096616" y="4759452"/>
            <a:ext cx="384048" cy="310896"/>
          </a:xfrm>
          <a:prstGeom prst="leftArrow">
            <a:avLst/>
          </a:prstGeom>
          <a:solidFill>
            <a:srgbClr val="595959"/>
          </a:solidFill>
          <a:ln/>
        </p:spPr>
      </p:sp>
      <p:sp>
        <p:nvSpPr>
          <p:cNvPr id="20" name="Shape 16"/>
          <p:cNvSpPr/>
          <p:nvPr/>
        </p:nvSpPr>
        <p:spPr>
          <a:xfrm>
            <a:off x="3480664" y="443484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80664" y="443484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Save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903824" y="4759452"/>
            <a:ext cx="384048" cy="310896"/>
          </a:xfrm>
          <a:prstGeom prst="leftArrow">
            <a:avLst/>
          </a:prstGeom>
          <a:solidFill>
            <a:srgbClr val="595959"/>
          </a:solidFill>
          <a:ln/>
        </p:spPr>
      </p:sp>
      <p:sp>
        <p:nvSpPr>
          <p:cNvPr id="23" name="Shape 19"/>
          <p:cNvSpPr/>
          <p:nvPr/>
        </p:nvSpPr>
        <p:spPr>
          <a:xfrm>
            <a:off x="6287872" y="443484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87872" y="443484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Recommendation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Alerts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711032" y="4759452"/>
            <a:ext cx="384048" cy="310896"/>
          </a:xfrm>
          <a:prstGeom prst="leftArrow">
            <a:avLst/>
          </a:prstGeom>
          <a:solidFill>
            <a:srgbClr val="595959"/>
          </a:solidFill>
          <a:ln/>
        </p:spPr>
      </p:sp>
      <p:sp>
        <p:nvSpPr>
          <p:cNvPr id="26" name="Shape 22"/>
          <p:cNvSpPr/>
          <p:nvPr/>
        </p:nvSpPr>
        <p:spPr>
          <a:xfrm>
            <a:off x="9095080" y="443484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095080" y="443484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Irrigation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Engine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33095" y="1554480"/>
            <a:ext cx="1112550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Smart Irrigation Decision Support System demonstrates how Java can be used to build a rule-based agricultural decision-making tool.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soil moisture and weather data enable a safe, hardware-free demonstration of irrigation logic.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combines data simulation, decision-making, recommendations, and reporting into a single cohesive application.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serves as a strong foundation for future integration with real sensors and machine learning models.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Images - Free Download on Magnific (formerly Freepik)">
            <a:extLst>
              <a:ext uri="{FF2B5EF4-FFF2-40B4-BE49-F238E27FC236}">
                <a16:creationId xmlns:a16="http://schemas.microsoft.com/office/drawing/2014/main" id="{1D7E9980-CA69-4A05-B65E-FD5C78AA6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1008</Words>
  <Application>Microsoft Office PowerPoint</Application>
  <PresentationFormat>Widescreen</PresentationFormat>
  <Paragraphs>191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pandi srihari</cp:lastModifiedBy>
  <cp:revision>6</cp:revision>
  <dcterms:created xsi:type="dcterms:W3CDTF">2026-08-02T14:50:31Z</dcterms:created>
  <dcterms:modified xsi:type="dcterms:W3CDTF">2026-08-30T17:22:25Z</dcterms:modified>
</cp:coreProperties>
</file>